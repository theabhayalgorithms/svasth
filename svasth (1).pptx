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Plus Jakarta Sans ExtraBold"/>
      <p:bold r:id="rId12"/>
      <p:boldItalic r:id="rId13"/>
    </p:embeddedFont>
    <p:embeddedFont>
      <p:font typeface="Plus Jakarta Sans"/>
      <p:bold r:id="rId14"/>
      <p:boldItalic r:id="rId15"/>
    </p:embeddedFont>
    <p:embeddedFont>
      <p:font typeface="Plus Jakarta Sans SemiBold"/>
      <p:regular r:id="rId16"/>
      <p:bold r:id="rId17"/>
      <p:italic r:id="rId18"/>
      <p:boldItalic r:id="rId19"/>
    </p:embeddedFont>
    <p:embeddedFont>
      <p:font typeface="Plus Jakarta Sans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Medium-regular.fntdata"/><Relationship Id="rId11" Type="http://schemas.openxmlformats.org/officeDocument/2006/relationships/slide" Target="slides/slide6.xml"/><Relationship Id="rId22" Type="http://schemas.openxmlformats.org/officeDocument/2006/relationships/font" Target="fonts/PlusJakartaSansMedium-italic.fntdata"/><Relationship Id="rId10" Type="http://schemas.openxmlformats.org/officeDocument/2006/relationships/slide" Target="slides/slide5.xml"/><Relationship Id="rId21" Type="http://schemas.openxmlformats.org/officeDocument/2006/relationships/font" Target="fonts/PlusJakartaSansMedium-bold.fntdata"/><Relationship Id="rId13" Type="http://schemas.openxmlformats.org/officeDocument/2006/relationships/font" Target="fonts/PlusJakartaSansExtraBold-boldItalic.fntdata"/><Relationship Id="rId12" Type="http://schemas.openxmlformats.org/officeDocument/2006/relationships/font" Target="fonts/PlusJakartaSansExtraBold-bold.fntdata"/><Relationship Id="rId23" Type="http://schemas.openxmlformats.org/officeDocument/2006/relationships/font" Target="fonts/PlusJakarta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usJakartaSans-boldItalic.fntdata"/><Relationship Id="rId14" Type="http://schemas.openxmlformats.org/officeDocument/2006/relationships/font" Target="fonts/PlusJakartaSans-bold.fntdata"/><Relationship Id="rId17" Type="http://schemas.openxmlformats.org/officeDocument/2006/relationships/font" Target="fonts/PlusJakartaSansSemiBold-bold.fntdata"/><Relationship Id="rId16" Type="http://schemas.openxmlformats.org/officeDocument/2006/relationships/font" Target="fonts/PlusJakartaSans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jp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6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9.png"/><Relationship Id="rId10" Type="http://schemas.openxmlformats.org/officeDocument/2006/relationships/image" Target="../media/image7.png"/><Relationship Id="rId13" Type="http://schemas.openxmlformats.org/officeDocument/2006/relationships/image" Target="../media/image24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Relationship Id="rId15" Type="http://schemas.openxmlformats.org/officeDocument/2006/relationships/image" Target="../media/image25.png"/><Relationship Id="rId14" Type="http://schemas.openxmlformats.org/officeDocument/2006/relationships/image" Target="../media/image27.png"/><Relationship Id="rId16" Type="http://schemas.openxmlformats.org/officeDocument/2006/relationships/image" Target="../media/image34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35.png"/><Relationship Id="rId7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6524625" y="1228725"/>
            <a:ext cx="5067300" cy="2924100"/>
            <a:chOff x="-9525" y="-9525"/>
            <a:chExt cx="5067300" cy="29241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5048400" cy="2905200"/>
            </a:xfrm>
            <a:prstGeom prst="roundRect">
              <a:avLst>
                <a:gd fmla="val 5245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sleek, modern digital hospital management dashboard interface displayed on a tablet screen, showing real-time patient queue flow, triage analytics, and virtual waiting line status, emerald green accents, high-end UI design, soft light background." id="86" name="Google Shape;86;p13"/>
            <p:cNvPicPr preferRelativeResize="0"/>
            <p:nvPr/>
          </p:nvPicPr>
          <p:blipFill rotWithShape="1">
            <a:blip r:embed="rId4">
              <a:alphaModFix/>
            </a:blip>
            <a:srcRect b="0" l="1124" r="1134" t="0"/>
            <a:stretch/>
          </p:blipFill>
          <p:spPr>
            <a:xfrm>
              <a:off x="0" y="0"/>
              <a:ext cx="5048400" cy="2905200"/>
            </a:xfrm>
            <a:prstGeom prst="roundRect">
              <a:avLst>
                <a:gd fmla="val 5245" name="adj"/>
              </a:avLst>
            </a:prstGeom>
            <a:noFill/>
            <a:ln>
              <a:noFill/>
            </a:ln>
          </p:spPr>
        </p:pic>
        <p:pic>
          <p:nvPicPr>
            <p:cNvPr id="87" name="Google Shape;87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9525" y="-9525"/>
              <a:ext cx="5067300" cy="2924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13"/>
          <p:cNvSpPr/>
          <p:nvPr/>
        </p:nvSpPr>
        <p:spPr>
          <a:xfrm>
            <a:off x="609600" y="1295400"/>
            <a:ext cx="1962300" cy="285900"/>
          </a:xfrm>
          <a:prstGeom prst="roundRect">
            <a:avLst>
              <a:gd fmla="val 50000" name="adj"/>
            </a:avLst>
          </a:prstGeom>
          <a:solidFill>
            <a:srgbClr val="E6F4E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42950" y="1352550"/>
            <a:ext cx="1714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04785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SVASTH IDEATHON - 2026</a:t>
            </a:r>
            <a:endParaRPr b="1" sz="1000">
              <a:solidFill>
                <a:srgbClr val="047857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9600" y="1733550"/>
            <a:ext cx="5619900" cy="1108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Dynamic OPD Queue &amp; Triage Tracker</a:t>
            </a:r>
            <a:endParaRPr b="0" sz="360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3067050"/>
            <a:ext cx="55245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Decentralized Virtual Waiting Lines &amp; Real-Time Patient Flow Optimization</a:t>
            </a:r>
            <a:endParaRPr b="0" sz="1500">
              <a:solidFill>
                <a:srgbClr val="475569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381000"/>
            <a:ext cx="352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PRASANNA SCHOOL OF PUBLIC HEALTH | MAHE</a:t>
            </a:r>
            <a:endParaRPr/>
          </a:p>
        </p:txBody>
      </p:sp>
      <p:grpSp>
        <p:nvGrpSpPr>
          <p:cNvPr id="93" name="Google Shape;93;p13"/>
          <p:cNvGrpSpPr/>
          <p:nvPr/>
        </p:nvGrpSpPr>
        <p:grpSpPr>
          <a:xfrm>
            <a:off x="609600" y="4381500"/>
            <a:ext cx="5391300" cy="1714500"/>
            <a:chOff x="0" y="0"/>
            <a:chExt cx="5391300" cy="1714500"/>
          </a:xfrm>
        </p:grpSpPr>
        <p:sp>
          <p:nvSpPr>
            <p:cNvPr id="94" name="Google Shape;94;p13"/>
            <p:cNvSpPr/>
            <p:nvPr/>
          </p:nvSpPr>
          <p:spPr>
            <a:xfrm>
              <a:off x="0" y="0"/>
              <a:ext cx="53913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3"/>
            <p:cNvSpPr/>
            <p:nvPr/>
          </p:nvSpPr>
          <p:spPr>
            <a:xfrm>
              <a:off x="0" y="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0596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13"/>
          <p:cNvSpPr txBox="1"/>
          <p:nvPr/>
        </p:nvSpPr>
        <p:spPr>
          <a:xfrm>
            <a:off x="609600" y="590550"/>
            <a:ext cx="352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Department of Healthcare and Hospital Management</a:t>
            </a:r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6191250" y="4381500"/>
            <a:ext cx="5391300" cy="1714500"/>
            <a:chOff x="0" y="0"/>
            <a:chExt cx="5391300" cy="1714500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5391300" cy="17145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3"/>
            <p:cNvSpPr/>
            <p:nvPr/>
          </p:nvSpPr>
          <p:spPr>
            <a:xfrm>
              <a:off x="0" y="0"/>
              <a:ext cx="76200" cy="1714500"/>
            </a:xfrm>
            <a:prstGeom prst="roundRect">
              <a:avLst>
                <a:gd fmla="val 50000" name="adj"/>
              </a:avLst>
            </a:prstGeom>
            <a:solidFill>
              <a:srgbClr val="0F4C3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descr="image.png" id="100" name="Google Shape;10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6475" y="4191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3"/>
          <p:cNvSpPr txBox="1"/>
          <p:nvPr/>
        </p:nvSpPr>
        <p:spPr>
          <a:xfrm>
            <a:off x="914400" y="4591050"/>
            <a:ext cx="476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05966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 STATEMENT TITLE</a:t>
            </a:r>
            <a:endParaRPr b="0" sz="1000">
              <a:solidFill>
                <a:srgbClr val="059669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258425" y="428625"/>
            <a:ext cx="13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SVASTH 26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914400" y="4876800"/>
            <a:ext cx="4762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b="0" lang="en-US" sz="180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Mitigating Severe OPD Waiting Congestion via Smart Real-Time Routing</a:t>
            </a:r>
            <a:endParaRPr b="0" sz="1800">
              <a:solidFill>
                <a:srgbClr val="0F172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6496050" y="4591050"/>
            <a:ext cx="47625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059669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TEAM INFORMATION</a:t>
            </a:r>
            <a:endParaRPr b="0" sz="1000">
              <a:solidFill>
                <a:srgbClr val="059669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496050" y="4857750"/>
            <a:ext cx="47625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415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Team Name: </a:t>
            </a:r>
            <a:r>
              <a:rPr b="0" lang="en-US" sz="150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Obsidian Loop</a:t>
            </a:r>
            <a:endParaRPr b="0" sz="1500">
              <a:solidFill>
                <a:srgbClr val="334155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6496050" y="5200650"/>
            <a:ext cx="4762500" cy="62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Leader:</a:t>
            </a:r>
            <a:r>
              <a:rPr b="0" lang="en-US" sz="11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Abhay Raj Singh</a:t>
            </a:r>
            <a:endParaRPr b="0" sz="1150">
              <a:solidFill>
                <a:srgbClr val="334155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 1:</a:t>
            </a:r>
            <a:r>
              <a:rPr b="0" lang="en-US" sz="11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Krishna Sahu</a:t>
            </a:r>
            <a:endParaRPr b="0" sz="1150">
              <a:solidFill>
                <a:srgbClr val="334155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Member 2:</a:t>
            </a:r>
            <a:r>
              <a:rPr b="0" lang="en-US" sz="11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 Arohi Srivastava</a:t>
            </a:r>
            <a:endParaRPr b="0" sz="1150">
              <a:solidFill>
                <a:srgbClr val="334155"/>
              </a:solidFill>
              <a:latin typeface="Plus Jakarta Sans Medium"/>
              <a:ea typeface="Plus Jakarta Sans Medium"/>
              <a:cs typeface="Plus Jakarta Sans Medium"/>
              <a:sym typeface="Plus Jakarta Sans Medium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446" r="456" t="0"/>
          <a:stretch/>
        </p:blipFill>
        <p:spPr>
          <a:xfrm>
            <a:off x="6762750" y="1285875"/>
            <a:ext cx="4819800" cy="42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3917" r="3908" t="0"/>
          <a:stretch/>
        </p:blipFill>
        <p:spPr>
          <a:xfrm>
            <a:off x="609600" y="1285875"/>
            <a:ext cx="5857800" cy="10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9475" r="9475" t="0"/>
          <a:stretch/>
        </p:blipFill>
        <p:spPr>
          <a:xfrm>
            <a:off x="609600" y="2524125"/>
            <a:ext cx="5857800" cy="9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 rotWithShape="1">
          <a:blip r:embed="rId6">
            <a:alphaModFix/>
          </a:blip>
          <a:srcRect b="0" l="9475" r="9475" t="0"/>
          <a:stretch/>
        </p:blipFill>
        <p:spPr>
          <a:xfrm>
            <a:off x="609600" y="3571875"/>
            <a:ext cx="5857800" cy="9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7">
            <a:alphaModFix/>
          </a:blip>
          <a:srcRect b="0" l="9475" r="9475" t="0"/>
          <a:stretch/>
        </p:blipFill>
        <p:spPr>
          <a:xfrm>
            <a:off x="609600" y="4619625"/>
            <a:ext cx="5857800" cy="9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 txBox="1"/>
          <p:nvPr/>
        </p:nvSpPr>
        <p:spPr>
          <a:xfrm>
            <a:off x="609600" y="361950"/>
            <a:ext cx="109728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BOTTLENECKS &amp; FRICTION</a:t>
            </a:r>
            <a:endParaRPr b="1" sz="115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9600" y="590550"/>
            <a:ext cx="115215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Problem Statements</a:t>
            </a:r>
            <a:endParaRPr b="0" sz="280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229" r="219" t="0"/>
          <a:stretch/>
        </p:blipFill>
        <p:spPr>
          <a:xfrm>
            <a:off x="6772275" y="1295400"/>
            <a:ext cx="4800600" cy="42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838200" y="1409700"/>
            <a:ext cx="5429400" cy="44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9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3 to 5 Hours</a:t>
            </a:r>
            <a:endParaRPr b="0" sz="289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838200" y="1924050"/>
            <a:ext cx="5429400" cy="20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415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Average blind waiting time for Indian hospital OPD consultations</a:t>
            </a:r>
            <a:endParaRPr b="0" sz="1300">
              <a:solidFill>
                <a:srgbClr val="334155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38200" y="2647950"/>
            <a:ext cx="5429400" cy="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Dangerous Corridor Overcrowding</a:t>
            </a:r>
            <a:endParaRPr b="1" sz="15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838200" y="2952750"/>
            <a:ext cx="54294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airborne cross-infection risk in stagnant waiting areas.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838200" y="3695700"/>
            <a:ext cx="5429400" cy="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Operational Visibility</a:t>
            </a:r>
            <a:endParaRPr b="1" sz="15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838200" y="4000500"/>
            <a:ext cx="54294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Static tokens fail when emergency consultations cause delays.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838200" y="4743450"/>
            <a:ext cx="5429400" cy="238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Severe Administrative Burnout</a:t>
            </a:r>
            <a:endParaRPr b="1" sz="15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14"/>
          <p:cNvSpPr txBox="1"/>
          <p:nvPr/>
        </p:nvSpPr>
        <p:spPr>
          <a:xfrm>
            <a:off x="838200" y="5048250"/>
            <a:ext cx="54294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Nursing staff overwhelmed fielding repetitive status inquiries.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/>
          <p:cNvPicPr preferRelativeResize="0"/>
          <p:nvPr/>
        </p:nvPicPr>
        <p:blipFill rotWithShape="1">
          <a:blip r:embed="rId4">
            <a:alphaModFix/>
          </a:blip>
          <a:srcRect b="0" l="21518" r="21512" t="0"/>
          <a:stretch/>
        </p:blipFill>
        <p:spPr>
          <a:xfrm>
            <a:off x="609600" y="1428750"/>
            <a:ext cx="2600400" cy="31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/>
          <p:cNvPicPr preferRelativeResize="0"/>
          <p:nvPr/>
        </p:nvPicPr>
        <p:blipFill rotWithShape="1">
          <a:blip r:embed="rId5">
            <a:alphaModFix/>
          </a:blip>
          <a:srcRect b="0" l="21518" r="21512" t="0"/>
          <a:stretch/>
        </p:blipFill>
        <p:spPr>
          <a:xfrm>
            <a:off x="3400425" y="1428750"/>
            <a:ext cx="2600400" cy="31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/>
          <p:cNvPicPr preferRelativeResize="0"/>
          <p:nvPr/>
        </p:nvPicPr>
        <p:blipFill rotWithShape="1">
          <a:blip r:embed="rId4">
            <a:alphaModFix/>
          </a:blip>
          <a:srcRect b="0" l="21518" r="21512" t="0"/>
          <a:stretch/>
        </p:blipFill>
        <p:spPr>
          <a:xfrm>
            <a:off x="6191250" y="1428750"/>
            <a:ext cx="2600400" cy="31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18636" r="18636" t="0"/>
          <a:stretch/>
        </p:blipFill>
        <p:spPr>
          <a:xfrm>
            <a:off x="8982075" y="1428750"/>
            <a:ext cx="2600400" cy="31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609600" y="381000"/>
            <a:ext cx="10972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ARCHITECTURE &amp; WORKFLOW</a:t>
            </a:r>
            <a:endParaRPr b="1" sz="110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609600" y="647700"/>
            <a:ext cx="10972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Technical Approach</a:t>
            </a:r>
            <a:endParaRPr b="0" sz="280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40" name="Google Shape;140;p15"/>
          <p:cNvPicPr preferRelativeResize="0"/>
          <p:nvPr/>
        </p:nvPicPr>
        <p:blipFill rotWithShape="1">
          <a:blip r:embed="rId7">
            <a:alphaModFix/>
          </a:blip>
          <a:srcRect b="0" l="5004" r="4995" t="0"/>
          <a:stretch/>
        </p:blipFill>
        <p:spPr>
          <a:xfrm>
            <a:off x="609600" y="4857750"/>
            <a:ext cx="10972800" cy="82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5"/>
          <p:cNvSpPr txBox="1"/>
          <p:nvPr/>
        </p:nvSpPr>
        <p:spPr>
          <a:xfrm>
            <a:off x="1181100" y="5124450"/>
            <a:ext cx="17145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 Tech Stack:</a:t>
            </a:r>
            <a:endParaRPr b="1" i="0" sz="1350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2" name="Google Shape;142;p15"/>
          <p:cNvSpPr txBox="1"/>
          <p:nvPr/>
        </p:nvSpPr>
        <p:spPr>
          <a:xfrm>
            <a:off x="2933700" y="5124450"/>
            <a:ext cx="8458200" cy="20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Frontend: </a:t>
            </a:r>
            <a:r>
              <a:rPr b="0" i="0" lang="en-US" sz="13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Next.js • </a:t>
            </a:r>
            <a:r>
              <a:rPr b="0" i="0" lang="en-US" sz="135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Real-Time Sync: </a:t>
            </a:r>
            <a:r>
              <a:rPr b="0" i="0" lang="en-US" sz="13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Node.js WebSockets • </a:t>
            </a:r>
            <a:r>
              <a:rPr b="0" i="0" lang="en-US" sz="135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Alerts: </a:t>
            </a:r>
            <a:r>
              <a:rPr b="0" i="0" lang="en-US" sz="1350">
                <a:solidFill>
                  <a:srgbClr val="334155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WhatsApp Cloud API</a:t>
            </a:r>
            <a:endParaRPr b="0" i="0" sz="135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19250" y="1714500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04850" y="2495550"/>
            <a:ext cx="2409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Zero-App Check-In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762000" y="2876550"/>
            <a:ext cx="2295600" cy="38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Instant token generation via QR scan or receptionist entry.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6" name="Google Shape;14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10075" y="1714500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3495675" y="2495550"/>
            <a:ext cx="2409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Dynamic ETA Engine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3552825" y="2876550"/>
            <a:ext cx="2295600" cy="5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Calculates wait times using real-time doctor pace algorithms.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49" name="Google Shape;14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00900" y="1714500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5"/>
          <p:cNvSpPr txBox="1"/>
          <p:nvPr/>
        </p:nvSpPr>
        <p:spPr>
          <a:xfrm>
            <a:off x="6286500" y="2495550"/>
            <a:ext cx="2409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Proximity Broadcast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6343650" y="2876550"/>
            <a:ext cx="2295600" cy="5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Automated WhatsApp and SMS pings dispatched 2 turns prior.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52" name="Google Shape;15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991725" y="1714500"/>
            <a:ext cx="569700" cy="56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5"/>
          <p:cNvSpPr txBox="1"/>
          <p:nvPr/>
        </p:nvSpPr>
        <p:spPr>
          <a:xfrm>
            <a:off x="9077325" y="2495550"/>
            <a:ext cx="24099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1-Tap Doctor Portal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9134475" y="2876550"/>
            <a:ext cx="2295600" cy="5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Single-click patient advancement with instant emergency hold.</a:t>
            </a:r>
            <a:endParaRPr b="0" sz="12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55" name="Google Shape;155;p15"/>
          <p:cNvPicPr preferRelativeResize="0"/>
          <p:nvPr/>
        </p:nvPicPr>
        <p:blipFill rotWithShape="1">
          <a:blip r:embed="rId12">
            <a:alphaModFix/>
          </a:blip>
          <a:srcRect b="3131" l="0" r="0" t="3122"/>
          <a:stretch/>
        </p:blipFill>
        <p:spPr>
          <a:xfrm>
            <a:off x="838200" y="5138738"/>
            <a:ext cx="262800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/>
          <p:cNvPicPr preferRelativeResize="0"/>
          <p:nvPr/>
        </p:nvPicPr>
        <p:blipFill rotWithShape="1">
          <a:blip r:embed="rId13">
            <a:alphaModFix/>
          </a:blip>
          <a:srcRect b="0" l="288" r="278" t="0"/>
          <a:stretch/>
        </p:blipFill>
        <p:spPr>
          <a:xfrm>
            <a:off x="1790700" y="1866900"/>
            <a:ext cx="230100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543425" y="1857375"/>
            <a:ext cx="262800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5"/>
          <p:cNvPicPr preferRelativeResize="0"/>
          <p:nvPr/>
        </p:nvPicPr>
        <p:blipFill rotWithShape="1">
          <a:blip r:embed="rId15">
            <a:alphaModFix/>
          </a:blip>
          <a:srcRect b="0" l="288" r="278" t="0"/>
          <a:stretch/>
        </p:blipFill>
        <p:spPr>
          <a:xfrm>
            <a:off x="7343775" y="1857375"/>
            <a:ext cx="230100" cy="26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/>
          <p:cNvPicPr preferRelativeResize="0"/>
          <p:nvPr/>
        </p:nvPicPr>
        <p:blipFill rotWithShape="1">
          <a:blip r:embed="rId16">
            <a:alphaModFix/>
          </a:blip>
          <a:srcRect b="0" l="288" r="278" t="0"/>
          <a:stretch/>
        </p:blipFill>
        <p:spPr>
          <a:xfrm>
            <a:off x="10134600" y="1857375"/>
            <a:ext cx="230100" cy="26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/>
          <p:nvPr/>
        </p:nvSpPr>
        <p:spPr>
          <a:xfrm>
            <a:off x="609600" y="1524000"/>
            <a:ext cx="3505200" cy="46674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6"/>
          <p:cNvSpPr/>
          <p:nvPr/>
        </p:nvSpPr>
        <p:spPr>
          <a:xfrm>
            <a:off x="4343400" y="1524000"/>
            <a:ext cx="3505200" cy="46674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/>
          <p:nvPr/>
        </p:nvSpPr>
        <p:spPr>
          <a:xfrm>
            <a:off x="8077200" y="1524000"/>
            <a:ext cx="3505200" cy="4667400"/>
          </a:xfrm>
          <a:prstGeom prst="roundRect">
            <a:avLst>
              <a:gd fmla="val 434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09600" y="342900"/>
            <a:ext cx="1097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DEPLOYMENT &amp; OPERATIONAL FIT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09600" y="571500"/>
            <a:ext cx="115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Feasibility And Viability</a:t>
            </a:r>
            <a:endParaRPr/>
          </a:p>
        </p:txBody>
      </p:sp>
      <p:pic>
        <p:nvPicPr>
          <p:cNvPr id="170" name="Google Shape;170;p16"/>
          <p:cNvPicPr preferRelativeResize="0"/>
          <p:nvPr/>
        </p:nvPicPr>
        <p:blipFill rotWithShape="1">
          <a:blip r:embed="rId4">
            <a:alphaModFix/>
          </a:blip>
          <a:srcRect b="2444" l="0" r="0" t="2444"/>
          <a:stretch/>
        </p:blipFill>
        <p:spPr>
          <a:xfrm>
            <a:off x="895350" y="1885950"/>
            <a:ext cx="3048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 txBox="1"/>
          <p:nvPr/>
        </p:nvSpPr>
        <p:spPr>
          <a:xfrm>
            <a:off x="1295400" y="1857375"/>
            <a:ext cx="2571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Technical Viability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895350" y="2428875"/>
            <a:ext cx="2933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Zero Hardware Overhaul: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Runs smoothly on standard clinic tablets.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895350" y="3123375"/>
            <a:ext cx="29337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Low Bandwidth Sync: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Operates seamlessly under unstable 3G/4G connections.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74" name="Google Shape;174;p16"/>
          <p:cNvPicPr preferRelativeResize="0"/>
          <p:nvPr/>
        </p:nvPicPr>
        <p:blipFill rotWithShape="1">
          <a:blip r:embed="rId5">
            <a:alphaModFix/>
          </a:blip>
          <a:srcRect b="0" l="466" r="456" t="0"/>
          <a:stretch/>
        </p:blipFill>
        <p:spPr>
          <a:xfrm>
            <a:off x="4629150" y="1885950"/>
            <a:ext cx="2667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6"/>
          <p:cNvSpPr txBox="1"/>
          <p:nvPr/>
        </p:nvSpPr>
        <p:spPr>
          <a:xfrm>
            <a:off x="4991100" y="1857375"/>
            <a:ext cx="2571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Operational Viability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4629150" y="2428875"/>
            <a:ext cx="29337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10-Minute Training: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Intuitive interfaces require zero specialized training.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4629150" y="3571875"/>
            <a:ext cx="2933700" cy="6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Elderly Inclusive: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Physical paper receipts for non-smartphone patients.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4629150" y="4714875"/>
            <a:ext cx="2933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Triage Protocol: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Fast priority overrides for critical walk-ins.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950" y="1885950"/>
            <a:ext cx="238200" cy="23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8696325" y="1857375"/>
            <a:ext cx="25719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Economic Viability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8362950" y="2428875"/>
            <a:ext cx="2933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SaaS Cost Model: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Negligible per-hospital cloud subscription fees.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362950" y="3571875"/>
            <a:ext cx="2933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3-Week Pilot: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Rapid sandbox rollout in outpatient departments.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8362950" y="4714875"/>
            <a:ext cx="29337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High ROI: </a:t>
            </a:r>
            <a:r>
              <a:rPr b="0" i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Minimizes staff attrition and elevates patient throughput.</a:t>
            </a:r>
            <a:endParaRPr b="1" i="0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/>
          <p:cNvPicPr preferRelativeResize="0"/>
          <p:nvPr/>
        </p:nvPicPr>
        <p:blipFill rotWithShape="1">
          <a:blip r:embed="rId4">
            <a:alphaModFix/>
          </a:blip>
          <a:srcRect b="0" l="27393" r="27389" t="0"/>
          <a:stretch/>
        </p:blipFill>
        <p:spPr>
          <a:xfrm>
            <a:off x="609600" y="1285875"/>
            <a:ext cx="3505200" cy="21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7"/>
          <p:cNvPicPr preferRelativeResize="0"/>
          <p:nvPr/>
        </p:nvPicPr>
        <p:blipFill rotWithShape="1">
          <a:blip r:embed="rId4">
            <a:alphaModFix/>
          </a:blip>
          <a:srcRect b="0" l="27393" r="27389" t="0"/>
          <a:stretch/>
        </p:blipFill>
        <p:spPr>
          <a:xfrm>
            <a:off x="4343400" y="1285875"/>
            <a:ext cx="3505200" cy="21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7"/>
          <p:cNvPicPr preferRelativeResize="0"/>
          <p:nvPr/>
        </p:nvPicPr>
        <p:blipFill rotWithShape="1">
          <a:blip r:embed="rId4">
            <a:alphaModFix/>
          </a:blip>
          <a:srcRect b="0" l="27393" r="27389" t="0"/>
          <a:stretch/>
        </p:blipFill>
        <p:spPr>
          <a:xfrm>
            <a:off x="8077200" y="1285875"/>
            <a:ext cx="3505200" cy="219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7"/>
          <p:cNvPicPr preferRelativeResize="0"/>
          <p:nvPr/>
        </p:nvPicPr>
        <p:blipFill rotWithShape="1">
          <a:blip r:embed="rId5">
            <a:alphaModFix/>
          </a:blip>
          <a:srcRect b="0" l="30531" r="30527" t="0"/>
          <a:stretch/>
        </p:blipFill>
        <p:spPr>
          <a:xfrm>
            <a:off x="609600" y="3667125"/>
            <a:ext cx="3505200" cy="25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7"/>
          <p:cNvPicPr preferRelativeResize="0"/>
          <p:nvPr/>
        </p:nvPicPr>
        <p:blipFill rotWithShape="1">
          <a:blip r:embed="rId6">
            <a:alphaModFix/>
          </a:blip>
          <a:srcRect b="0" l="30580" r="30584" t="0"/>
          <a:stretch/>
        </p:blipFill>
        <p:spPr>
          <a:xfrm>
            <a:off x="4343400" y="3667125"/>
            <a:ext cx="3505200" cy="25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/>
          <p:cNvPicPr preferRelativeResize="0"/>
          <p:nvPr/>
        </p:nvPicPr>
        <p:blipFill rotWithShape="1">
          <a:blip r:embed="rId7">
            <a:alphaModFix/>
          </a:blip>
          <a:srcRect b="0" l="30580" r="30584" t="0"/>
          <a:stretch/>
        </p:blipFill>
        <p:spPr>
          <a:xfrm>
            <a:off x="8077200" y="3667125"/>
            <a:ext cx="3505200" cy="25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7"/>
          <p:cNvSpPr txBox="1"/>
          <p:nvPr/>
        </p:nvSpPr>
        <p:spPr>
          <a:xfrm>
            <a:off x="609600" y="342900"/>
            <a:ext cx="109728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MEASURABLE OUTCOMES &amp; PUBLIC HEALTH VALUE</a:t>
            </a:r>
            <a:endParaRPr b="1" i="0" sz="1100">
              <a:solidFill>
                <a:srgbClr val="0596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609600" y="552450"/>
            <a:ext cx="109728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Impact And Benefits</a:t>
            </a:r>
            <a:endParaRPr b="0" i="0" sz="2800">
              <a:solidFill>
                <a:srgbClr val="0F4C3A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876300" y="1524000"/>
            <a:ext cx="2971800" cy="68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0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-</a:t>
            </a:r>
            <a:r>
              <a:rPr lang="en-US" sz="4420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6</a:t>
            </a:r>
            <a:r>
              <a:rPr b="0" i="0" lang="en-US" sz="4420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5%</a:t>
            </a:r>
            <a:endParaRPr b="0" i="0" sz="4420">
              <a:solidFill>
                <a:srgbClr val="166534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876300" y="2524125"/>
            <a:ext cx="29718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415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Corridor Crowd Density</a:t>
            </a:r>
            <a:endParaRPr b="0" i="0" sz="1500">
              <a:solidFill>
                <a:srgbClr val="334155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4610100" y="1524000"/>
            <a:ext cx="2971800" cy="68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0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40 Min</a:t>
            </a:r>
            <a:endParaRPr b="0" i="0" sz="4420">
              <a:solidFill>
                <a:srgbClr val="166534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00" name="Google Shape;200;p17"/>
          <p:cNvSpPr txBox="1"/>
          <p:nvPr/>
        </p:nvSpPr>
        <p:spPr>
          <a:xfrm>
            <a:off x="4610100" y="2524125"/>
            <a:ext cx="29718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415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Saved In Clinical Waiting Areas</a:t>
            </a:r>
            <a:endParaRPr b="0" i="0" sz="1500">
              <a:solidFill>
                <a:srgbClr val="334155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8343900" y="1524000"/>
            <a:ext cx="2971800" cy="68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20">
                <a:solidFill>
                  <a:srgbClr val="166534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92%</a:t>
            </a:r>
            <a:endParaRPr b="0" i="0" sz="4420">
              <a:solidFill>
                <a:srgbClr val="166534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8343900" y="2524125"/>
            <a:ext cx="29718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>
                <a:solidFill>
                  <a:srgbClr val="334155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Patient Satisfaction Rating</a:t>
            </a:r>
            <a:endParaRPr b="0" i="0" sz="1500">
              <a:solidFill>
                <a:srgbClr val="334155"/>
              </a:solidFill>
              <a:latin typeface="Plus Jakarta Sans SemiBold"/>
              <a:ea typeface="Plus Jakarta Sans SemiBold"/>
              <a:cs typeface="Plus Jakarta Sans SemiBold"/>
              <a:sym typeface="Plus Jakarta Sans SemiBold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876300" y="3952875"/>
            <a:ext cx="2971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Patients &amp; Families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4" name="Google Shape;204;p17"/>
          <p:cNvSpPr txBox="1"/>
          <p:nvPr/>
        </p:nvSpPr>
        <p:spPr>
          <a:xfrm>
            <a:off x="876300" y="4400550"/>
            <a:ext cx="29718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Freedom to wait in open cafeterias; reduced hospital infection exposure.</a:t>
            </a:r>
            <a:endParaRPr b="0" i="0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4610100" y="3952875"/>
            <a:ext cx="2971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Clinical Staff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4610100" y="4400550"/>
            <a:ext cx="29718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Orderly consultation rooms; zero repetitive queue-inquiry interruptions.</a:t>
            </a:r>
            <a:endParaRPr b="0" i="0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8343900" y="3952875"/>
            <a:ext cx="2971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Hospital Administration</a:t>
            </a:r>
            <a:endParaRPr b="1" i="0" sz="18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8343900" y="4400550"/>
            <a:ext cx="2971800" cy="6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Actionable throughput analytics; optimized departmental resource allocation.</a:t>
            </a:r>
            <a:endParaRPr b="0" i="0" sz="13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743700"/>
            <a:ext cx="121920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/>
          <p:nvPr/>
        </p:nvSpPr>
        <p:spPr>
          <a:xfrm>
            <a:off x="609600" y="1381125"/>
            <a:ext cx="10972800" cy="3714900"/>
          </a:xfrm>
          <a:prstGeom prst="roundRect">
            <a:avLst>
              <a:gd fmla="val 4102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09600" y="5286375"/>
            <a:ext cx="10972800" cy="514500"/>
          </a:xfrm>
          <a:prstGeom prst="roundRect">
            <a:avLst>
              <a:gd fmla="val 22222" name="adj"/>
            </a:avLst>
          </a:prstGeom>
          <a:solidFill>
            <a:srgbClr val="ECFDF5"/>
          </a:solidFill>
          <a:ln cap="flat" cmpd="sng" w="9525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609600" y="342900"/>
            <a:ext cx="1097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596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ACADEMIC LITERATURE &amp; FRAMEWORKS</a:t>
            </a:r>
            <a:endParaRPr/>
          </a:p>
        </p:txBody>
      </p:sp>
      <p:sp>
        <p:nvSpPr>
          <p:cNvPr id="217" name="Google Shape;217;p18"/>
          <p:cNvSpPr txBox="1"/>
          <p:nvPr/>
        </p:nvSpPr>
        <p:spPr>
          <a:xfrm>
            <a:off x="609600" y="571500"/>
            <a:ext cx="1152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4C3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References</a:t>
            </a:r>
            <a:endParaRPr/>
          </a:p>
        </p:txBody>
      </p:sp>
      <p:sp>
        <p:nvSpPr>
          <p:cNvPr id="218" name="Google Shape;218;p18"/>
          <p:cNvSpPr txBox="1"/>
          <p:nvPr/>
        </p:nvSpPr>
        <p:spPr>
          <a:xfrm>
            <a:off x="609600" y="5428013"/>
            <a:ext cx="10972800" cy="23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4C3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 • Open for Discussion &amp; Q&amp;A</a:t>
            </a:r>
            <a:endParaRPr b="1" sz="1500">
              <a:solidFill>
                <a:srgbClr val="0F4C3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4">
            <a:alphaModFix/>
          </a:blip>
          <a:srcRect b="2598" l="0" r="0" t="2588"/>
          <a:stretch/>
        </p:blipFill>
        <p:spPr>
          <a:xfrm>
            <a:off x="914400" y="1695450"/>
            <a:ext cx="247800" cy="2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1295400" y="1619250"/>
            <a:ext cx="9906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All India Institute of Medical Sciences (AIIMS) &amp; BMJ: </a:t>
            </a:r>
            <a:r>
              <a:rPr b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Time-motion transit evaluations in public tertiary outpatient departments across Northern India (2020–2024).</a:t>
            </a:r>
            <a:endParaRPr b="1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5">
            <a:alphaModFix/>
          </a:blip>
          <a:srcRect b="1840" l="0" r="0" t="1840"/>
          <a:stretch/>
        </p:blipFill>
        <p:spPr>
          <a:xfrm>
            <a:off x="914400" y="2505075"/>
            <a:ext cx="247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 txBox="1"/>
          <p:nvPr/>
        </p:nvSpPr>
        <p:spPr>
          <a:xfrm>
            <a:off x="1295400" y="2428875"/>
            <a:ext cx="9906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National Health Authority (NHA), India: </a:t>
            </a:r>
            <a:r>
              <a:rPr b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Ayushman Bharat Digital Mission (ABDM) guidelines for digital queue management and outpatient registration integration.</a:t>
            </a:r>
            <a:endParaRPr b="1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23" name="Google Shape;223;p18"/>
          <p:cNvPicPr preferRelativeResize="0"/>
          <p:nvPr/>
        </p:nvPicPr>
        <p:blipFill rotWithShape="1">
          <a:blip r:embed="rId6">
            <a:alphaModFix/>
          </a:blip>
          <a:srcRect b="1840" l="0" r="0" t="1840"/>
          <a:stretch/>
        </p:blipFill>
        <p:spPr>
          <a:xfrm>
            <a:off x="914400" y="3314700"/>
            <a:ext cx="247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8"/>
          <p:cNvSpPr txBox="1"/>
          <p:nvPr/>
        </p:nvSpPr>
        <p:spPr>
          <a:xfrm>
            <a:off x="1295400" y="3238500"/>
            <a:ext cx="9906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Journal of Healthcare &amp; Hospital Management: </a:t>
            </a:r>
            <a:r>
              <a:rPr b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Application of M/M/c queueing theory models to decongest multidisciplinary outpatient clinics.</a:t>
            </a:r>
            <a:endParaRPr b="1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25" name="Google Shape;225;p18"/>
          <p:cNvPicPr preferRelativeResize="0"/>
          <p:nvPr/>
        </p:nvPicPr>
        <p:blipFill rotWithShape="1">
          <a:blip r:embed="rId7">
            <a:alphaModFix/>
          </a:blip>
          <a:srcRect b="1923" l="0" r="0" t="1923"/>
          <a:stretch/>
        </p:blipFill>
        <p:spPr>
          <a:xfrm>
            <a:off x="914400" y="4124325"/>
            <a:ext cx="247800" cy="21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8"/>
          <p:cNvSpPr txBox="1"/>
          <p:nvPr/>
        </p:nvSpPr>
        <p:spPr>
          <a:xfrm>
            <a:off x="1295400" y="4048125"/>
            <a:ext cx="99060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Health Organization (WHO): </a:t>
            </a:r>
            <a:r>
              <a:rPr b="0"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standards for Infection Prevention and Control (IPC) in high-volume outpatient healthcare settings.</a:t>
            </a:r>
            <a:endParaRPr b="1" sz="1300">
              <a:solidFill>
                <a:srgbClr val="334155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